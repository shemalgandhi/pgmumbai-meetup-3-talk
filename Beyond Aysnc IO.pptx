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1" r:id="rId9"/>
    <p:sldId id="272" r:id="rId10"/>
    <p:sldId id="262" r:id="rId11"/>
    <p:sldId id="264" r:id="rId12"/>
    <p:sldId id="265" r:id="rId13"/>
    <p:sldId id="273" r:id="rId14"/>
    <p:sldId id="268" r:id="rId15"/>
    <p:sldId id="274" r:id="rId16"/>
    <p:sldId id="275" r:id="rId17"/>
    <p:sldId id="266" r:id="rId18"/>
    <p:sldId id="267" r:id="rId19"/>
    <p:sldId id="276" r:id="rId20"/>
    <p:sldId id="277" r:id="rId21"/>
    <p:sldId id="269" r:id="rId22"/>
    <p:sldId id="2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2ACAA6-66F4-4E16-AF7A-314BE9CF9ABA}">
          <p14:sldIdLst>
            <p14:sldId id="256"/>
            <p14:sldId id="257"/>
            <p14:sldId id="258"/>
            <p14:sldId id="259"/>
          </p14:sldIdLst>
        </p14:section>
        <p14:section name="Untitled Section" id="{BD819FEB-B53B-48FE-8E59-064919726AA8}">
          <p14:sldIdLst>
            <p14:sldId id="260"/>
            <p14:sldId id="261"/>
            <p14:sldId id="263"/>
            <p14:sldId id="271"/>
            <p14:sldId id="272"/>
            <p14:sldId id="262"/>
            <p14:sldId id="264"/>
            <p14:sldId id="265"/>
            <p14:sldId id="273"/>
            <p14:sldId id="268"/>
            <p14:sldId id="274"/>
            <p14:sldId id="275"/>
            <p14:sldId id="266"/>
            <p14:sldId id="267"/>
            <p14:sldId id="276"/>
            <p14:sldId id="277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Mendon" userId="39d24f148d2d5528" providerId="LiveId" clId="{E9171D48-C9FC-413A-A5DD-E3D3877CB349}"/>
    <pc:docChg chg="undo custSel modSld">
      <pc:chgData name="Kiran Mendon" userId="39d24f148d2d5528" providerId="LiveId" clId="{E9171D48-C9FC-413A-A5DD-E3D3877CB349}" dt="2026-06-18T14:04:35.110" v="502" actId="1076"/>
      <pc:docMkLst>
        <pc:docMk/>
      </pc:docMkLst>
      <pc:sldChg chg="modSp mod">
        <pc:chgData name="Kiran Mendon" userId="39d24f148d2d5528" providerId="LiveId" clId="{E9171D48-C9FC-413A-A5DD-E3D3877CB349}" dt="2026-06-18T11:32:46.404" v="27" actId="1076"/>
        <pc:sldMkLst>
          <pc:docMk/>
          <pc:sldMk cId="3440433540" sldId="259"/>
        </pc:sldMkLst>
        <pc:spChg chg="mod">
          <ac:chgData name="Kiran Mendon" userId="39d24f148d2d5528" providerId="LiveId" clId="{E9171D48-C9FC-413A-A5DD-E3D3877CB349}" dt="2026-06-18T11:32:46.404" v="27" actId="1076"/>
          <ac:spMkLst>
            <pc:docMk/>
            <pc:sldMk cId="3440433540" sldId="259"/>
            <ac:spMk id="4" creationId="{CC257CEA-24F8-C3A3-9206-99C199A95F25}"/>
          </ac:spMkLst>
        </pc:spChg>
      </pc:sldChg>
      <pc:sldChg chg="addSp modSp mod">
        <pc:chgData name="Kiran Mendon" userId="39d24f148d2d5528" providerId="LiveId" clId="{E9171D48-C9FC-413A-A5DD-E3D3877CB349}" dt="2026-06-18T11:54:02.044" v="126" actId="1076"/>
        <pc:sldMkLst>
          <pc:docMk/>
          <pc:sldMk cId="916161939" sldId="260"/>
        </pc:sldMkLst>
        <pc:spChg chg="add">
          <ac:chgData name="Kiran Mendon" userId="39d24f148d2d5528" providerId="LiveId" clId="{E9171D48-C9FC-413A-A5DD-E3D3877CB349}" dt="2026-06-18T11:47:55.479" v="29"/>
          <ac:spMkLst>
            <pc:docMk/>
            <pc:sldMk cId="916161939" sldId="260"/>
            <ac:spMk id="2" creationId="{6B77858A-E016-DFC3-6CCA-A65D0913BBF2}"/>
          </ac:spMkLst>
        </pc:spChg>
        <pc:spChg chg="mod">
          <ac:chgData name="Kiran Mendon" userId="39d24f148d2d5528" providerId="LiveId" clId="{E9171D48-C9FC-413A-A5DD-E3D3877CB349}" dt="2026-06-18T11:53:59.044" v="125" actId="27636"/>
          <ac:spMkLst>
            <pc:docMk/>
            <pc:sldMk cId="916161939" sldId="260"/>
            <ac:spMk id="3" creationId="{B2B77AB4-4B2C-9AF0-63FF-5947551744BC}"/>
          </ac:spMkLst>
        </pc:spChg>
        <pc:spChg chg="mod">
          <ac:chgData name="Kiran Mendon" userId="39d24f148d2d5528" providerId="LiveId" clId="{E9171D48-C9FC-413A-A5DD-E3D3877CB349}" dt="2026-06-18T11:54:02.044" v="126" actId="1076"/>
          <ac:spMkLst>
            <pc:docMk/>
            <pc:sldMk cId="916161939" sldId="260"/>
            <ac:spMk id="4" creationId="{3ECA8593-C912-EE4F-70A4-3C63F53D3BBA}"/>
          </ac:spMkLst>
        </pc:spChg>
        <pc:spChg chg="add">
          <ac:chgData name="Kiran Mendon" userId="39d24f148d2d5528" providerId="LiveId" clId="{E9171D48-C9FC-413A-A5DD-E3D3877CB349}" dt="2026-06-18T11:48:02.758" v="31"/>
          <ac:spMkLst>
            <pc:docMk/>
            <pc:sldMk cId="916161939" sldId="260"/>
            <ac:spMk id="5" creationId="{424B6EB2-C81A-7AEB-14AE-9E9D269823AB}"/>
          </ac:spMkLst>
        </pc:spChg>
      </pc:sldChg>
      <pc:sldChg chg="modSp mod">
        <pc:chgData name="Kiran Mendon" userId="39d24f148d2d5528" providerId="LiveId" clId="{E9171D48-C9FC-413A-A5DD-E3D3877CB349}" dt="2026-06-18T14:03:22.580" v="496" actId="20577"/>
        <pc:sldMkLst>
          <pc:docMk/>
          <pc:sldMk cId="2463003738" sldId="261"/>
        </pc:sldMkLst>
        <pc:spChg chg="mod">
          <ac:chgData name="Kiran Mendon" userId="39d24f148d2d5528" providerId="LiveId" clId="{E9171D48-C9FC-413A-A5DD-E3D3877CB349}" dt="2026-06-18T14:03:22.580" v="496" actId="20577"/>
          <ac:spMkLst>
            <pc:docMk/>
            <pc:sldMk cId="2463003738" sldId="261"/>
            <ac:spMk id="2" creationId="{449053CB-FC0C-D0F8-53A7-615A95F91202}"/>
          </ac:spMkLst>
        </pc:spChg>
        <pc:spChg chg="mod">
          <ac:chgData name="Kiran Mendon" userId="39d24f148d2d5528" providerId="LiveId" clId="{E9171D48-C9FC-413A-A5DD-E3D3877CB349}" dt="2026-06-18T12:07:43.276" v="132" actId="20577"/>
          <ac:spMkLst>
            <pc:docMk/>
            <pc:sldMk cId="2463003738" sldId="261"/>
            <ac:spMk id="5" creationId="{0697D289-1106-803B-6CE5-01B60B32DE1A}"/>
          </ac:spMkLst>
        </pc:spChg>
      </pc:sldChg>
      <pc:sldChg chg="modSp mod">
        <pc:chgData name="Kiran Mendon" userId="39d24f148d2d5528" providerId="LiveId" clId="{E9171D48-C9FC-413A-A5DD-E3D3877CB349}" dt="2026-06-18T12:32:40.969" v="347" actId="1076"/>
        <pc:sldMkLst>
          <pc:docMk/>
          <pc:sldMk cId="2734784467" sldId="271"/>
        </pc:sldMkLst>
        <pc:spChg chg="mod">
          <ac:chgData name="Kiran Mendon" userId="39d24f148d2d5528" providerId="LiveId" clId="{E9171D48-C9FC-413A-A5DD-E3D3877CB349}" dt="2026-06-18T12:32:40.969" v="347" actId="1076"/>
          <ac:spMkLst>
            <pc:docMk/>
            <pc:sldMk cId="2734784467" sldId="271"/>
            <ac:spMk id="3" creationId="{8736A424-47DC-0A58-1467-1A27D89435E9}"/>
          </ac:spMkLst>
        </pc:spChg>
      </pc:sldChg>
      <pc:sldChg chg="delSp modSp mod">
        <pc:chgData name="Kiran Mendon" userId="39d24f148d2d5528" providerId="LiveId" clId="{E9171D48-C9FC-413A-A5DD-E3D3877CB349}" dt="2026-06-18T14:04:35.110" v="502" actId="1076"/>
        <pc:sldMkLst>
          <pc:docMk/>
          <pc:sldMk cId="3542821894" sldId="272"/>
        </pc:sldMkLst>
        <pc:spChg chg="mod">
          <ac:chgData name="Kiran Mendon" userId="39d24f148d2d5528" providerId="LiveId" clId="{E9171D48-C9FC-413A-A5DD-E3D3877CB349}" dt="2026-06-18T14:03:34.984" v="497"/>
          <ac:spMkLst>
            <pc:docMk/>
            <pc:sldMk cId="3542821894" sldId="272"/>
            <ac:spMk id="2" creationId="{3660A8E4-B0CB-B029-FE55-99F6B673CD67}"/>
          </ac:spMkLst>
        </pc:spChg>
        <pc:spChg chg="mod">
          <ac:chgData name="Kiran Mendon" userId="39d24f148d2d5528" providerId="LiveId" clId="{E9171D48-C9FC-413A-A5DD-E3D3877CB349}" dt="2026-06-18T14:04:35.110" v="502" actId="1076"/>
          <ac:spMkLst>
            <pc:docMk/>
            <pc:sldMk cId="3542821894" sldId="272"/>
            <ac:spMk id="3" creationId="{E70523BC-6FEE-2FA2-E66E-C491A1B67960}"/>
          </ac:spMkLst>
        </pc:spChg>
        <pc:spChg chg="del">
          <ac:chgData name="Kiran Mendon" userId="39d24f148d2d5528" providerId="LiveId" clId="{E9171D48-C9FC-413A-A5DD-E3D3877CB349}" dt="2026-06-18T12:34:58.329" v="348" actId="478"/>
          <ac:spMkLst>
            <pc:docMk/>
            <pc:sldMk cId="3542821894" sldId="272"/>
            <ac:spMk id="4" creationId="{1CAE345F-78BE-A1C9-31EF-16576DFF5A7F}"/>
          </ac:spMkLst>
        </pc:spChg>
      </pc:sldChg>
      <pc:sldChg chg="modSp mod">
        <pc:chgData name="Kiran Mendon" userId="39d24f148d2d5528" providerId="LiveId" clId="{E9171D48-C9FC-413A-A5DD-E3D3877CB349}" dt="2026-06-18T14:03:41.935" v="498"/>
        <pc:sldMkLst>
          <pc:docMk/>
          <pc:sldMk cId="3132532028" sldId="273"/>
        </pc:sldMkLst>
        <pc:spChg chg="mod">
          <ac:chgData name="Kiran Mendon" userId="39d24f148d2d5528" providerId="LiveId" clId="{E9171D48-C9FC-413A-A5DD-E3D3877CB349}" dt="2026-06-18T14:03:41.935" v="498"/>
          <ac:spMkLst>
            <pc:docMk/>
            <pc:sldMk cId="3132532028" sldId="273"/>
            <ac:spMk id="2" creationId="{46399160-B022-A355-0E9A-0A8463ACFE9B}"/>
          </ac:spMkLst>
        </pc:spChg>
        <pc:spChg chg="mod">
          <ac:chgData name="Kiran Mendon" userId="39d24f148d2d5528" providerId="LiveId" clId="{E9171D48-C9FC-413A-A5DD-E3D3877CB349}" dt="2026-06-18T13:10:32.764" v="468" actId="20577"/>
          <ac:spMkLst>
            <pc:docMk/>
            <pc:sldMk cId="3132532028" sldId="273"/>
            <ac:spMk id="3" creationId="{B6D26172-4D75-0DAD-957A-6AD6646D929C}"/>
          </ac:spMkLst>
        </pc:spChg>
      </pc:sldChg>
      <pc:sldChg chg="modSp mod">
        <pc:chgData name="Kiran Mendon" userId="39d24f148d2d5528" providerId="LiveId" clId="{E9171D48-C9FC-413A-A5DD-E3D3877CB349}" dt="2026-06-18T10:54:28.288" v="21" actId="207"/>
        <pc:sldMkLst>
          <pc:docMk/>
          <pc:sldMk cId="240375734" sldId="274"/>
        </pc:sldMkLst>
        <pc:spChg chg="mod">
          <ac:chgData name="Kiran Mendon" userId="39d24f148d2d5528" providerId="LiveId" clId="{E9171D48-C9FC-413A-A5DD-E3D3877CB349}" dt="2026-06-18T10:54:28.288" v="21" actId="207"/>
          <ac:spMkLst>
            <pc:docMk/>
            <pc:sldMk cId="240375734" sldId="274"/>
            <ac:spMk id="3" creationId="{22294431-2249-60C4-018A-D0B7972762D8}"/>
          </ac:spMkLst>
        </pc:spChg>
      </pc:sldChg>
      <pc:sldChg chg="modSp">
        <pc:chgData name="Kiran Mendon" userId="39d24f148d2d5528" providerId="LiveId" clId="{E9171D48-C9FC-413A-A5DD-E3D3877CB349}" dt="2026-06-18T14:03:49.043" v="499"/>
        <pc:sldMkLst>
          <pc:docMk/>
          <pc:sldMk cId="67634461" sldId="275"/>
        </pc:sldMkLst>
        <pc:spChg chg="mod">
          <ac:chgData name="Kiran Mendon" userId="39d24f148d2d5528" providerId="LiveId" clId="{E9171D48-C9FC-413A-A5DD-E3D3877CB349}" dt="2026-06-18T14:03:49.043" v="499"/>
          <ac:spMkLst>
            <pc:docMk/>
            <pc:sldMk cId="67634461" sldId="275"/>
            <ac:spMk id="2" creationId="{1EA2BEDD-C23D-B384-A278-AC5DEA535B89}"/>
          </ac:spMkLst>
        </pc:spChg>
      </pc:sldChg>
      <pc:sldChg chg="modSp">
        <pc:chgData name="Kiran Mendon" userId="39d24f148d2d5528" providerId="LiveId" clId="{E9171D48-C9FC-413A-A5DD-E3D3877CB349}" dt="2026-06-18T14:04:00.587" v="500"/>
        <pc:sldMkLst>
          <pc:docMk/>
          <pc:sldMk cId="1836389708" sldId="277"/>
        </pc:sldMkLst>
        <pc:spChg chg="mod">
          <ac:chgData name="Kiran Mendon" userId="39d24f148d2d5528" providerId="LiveId" clId="{E9171D48-C9FC-413A-A5DD-E3D3877CB349}" dt="2026-06-18T14:04:00.587" v="500"/>
          <ac:spMkLst>
            <pc:docMk/>
            <pc:sldMk cId="1836389708" sldId="277"/>
            <ac:spMk id="2" creationId="{596E9BE9-9B37-1979-7BDB-0CD118927D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10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16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319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88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0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87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53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21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2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2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327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341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551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939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97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439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9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335AE3-8EDE-431F-838B-5101BDBDC6C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683A0-2D4C-449A-BC24-B2E15197F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099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962B-1693-DA8A-ABC0-4A274B33E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277" y="3672889"/>
            <a:ext cx="10499188" cy="3509963"/>
          </a:xfrm>
        </p:spPr>
        <p:txBody>
          <a:bodyPr>
            <a:noAutofit/>
          </a:bodyPr>
          <a:lstStyle/>
          <a:p>
            <a:br>
              <a:rPr lang="en-US" dirty="0">
                <a:solidFill>
                  <a:srgbClr val="C0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  <a:t>SELECT COUNT(*) FROM</a:t>
            </a:r>
            <a:b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  <a:t>(SELECT NAME FROM PG18.NEWFEATURES </a:t>
            </a:r>
            <a:b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  <a:t>UNION</a:t>
            </a:r>
            <a:b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  <a:t>SELECT NAME FROM PG18.NEWENHANCEMENTS)</a:t>
            </a:r>
            <a:b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4800" dirty="0">
                <a:latin typeface="Algerian" panose="04020705040A02060702" pitchFamily="82" charset="0"/>
                <a:cs typeface="Times New Roman" panose="02020603050405020304" pitchFamily="18" charset="0"/>
              </a:rPr>
              <a:t>AS COMBINED COUNT;</a:t>
            </a:r>
            <a:br>
              <a:rPr lang="en-US" sz="4800" dirty="0">
                <a:solidFill>
                  <a:srgbClr val="C00000"/>
                </a:solidFill>
                <a:latin typeface="Algerian" panose="04020705040A02060702" pitchFamily="82" charset="0"/>
              </a:rPr>
            </a:br>
            <a:endParaRPr lang="en-IN" sz="4800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3CD071-1A50-BE97-FCC6-C345AD5D6A9D}"/>
              </a:ext>
            </a:extLst>
          </p:cNvPr>
          <p:cNvSpPr/>
          <p:nvPr/>
        </p:nvSpPr>
        <p:spPr>
          <a:xfrm>
            <a:off x="1564105" y="230236"/>
            <a:ext cx="6256421" cy="759656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92D050"/>
                </a:solidFill>
                <a:latin typeface="Algerian" panose="04020705040A02060702" pitchFamily="82" charset="0"/>
              </a:rPr>
              <a:t>Who wants to Win…</a:t>
            </a:r>
            <a:endParaRPr lang="en-IN" sz="48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39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9C6D4-C65B-3D54-DA28-EE07D5F58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2863" y="2992901"/>
            <a:ext cx="6386732" cy="4360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Algerian" panose="04020705040A02060702" pitchFamily="82" charset="0"/>
              </a:rPr>
              <a:t>Postgres 18’s New Features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D729DF-FE8F-1E88-2196-ED4137320B88}"/>
              </a:ext>
            </a:extLst>
          </p:cNvPr>
          <p:cNvSpPr/>
          <p:nvPr/>
        </p:nvSpPr>
        <p:spPr>
          <a:xfrm rot="20784967">
            <a:off x="4606289" y="367426"/>
            <a:ext cx="2110155" cy="75965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92D050"/>
                </a:solidFill>
              </a:rPr>
              <a:t>Preserved Planner Stats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19699-BF1A-6783-D3B4-B65C9D571049}"/>
              </a:ext>
            </a:extLst>
          </p:cNvPr>
          <p:cNvSpPr/>
          <p:nvPr/>
        </p:nvSpPr>
        <p:spPr>
          <a:xfrm rot="1434577">
            <a:off x="1024597" y="4607169"/>
            <a:ext cx="2110155" cy="75965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92D050"/>
                </a:solidFill>
              </a:rPr>
              <a:t>B-tree Skip Scan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EBF174-929E-81DC-5CD2-9EC1C980CD2A}"/>
              </a:ext>
            </a:extLst>
          </p:cNvPr>
          <p:cNvSpPr/>
          <p:nvPr/>
        </p:nvSpPr>
        <p:spPr>
          <a:xfrm rot="574058">
            <a:off x="3491515" y="2077426"/>
            <a:ext cx="2110155" cy="75965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92D050"/>
                </a:solidFill>
              </a:rPr>
              <a:t>UUiD</a:t>
            </a:r>
            <a:r>
              <a:rPr lang="en-US" b="1" dirty="0">
                <a:solidFill>
                  <a:srgbClr val="92D050"/>
                </a:solidFill>
              </a:rPr>
              <a:t> V7 support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13136F-4A3F-EAA1-FF10-628ECB6F0931}"/>
              </a:ext>
            </a:extLst>
          </p:cNvPr>
          <p:cNvSpPr/>
          <p:nvPr/>
        </p:nvSpPr>
        <p:spPr>
          <a:xfrm rot="20563433">
            <a:off x="7727890" y="5565481"/>
            <a:ext cx="2110155" cy="75965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92D050"/>
                </a:solidFill>
              </a:rPr>
              <a:t>Virtually Generated Cols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A4218-927F-058A-CAF8-BCE0FFBF4DB9}"/>
              </a:ext>
            </a:extLst>
          </p:cNvPr>
          <p:cNvSpPr/>
          <p:nvPr/>
        </p:nvSpPr>
        <p:spPr>
          <a:xfrm rot="1701363">
            <a:off x="8848166" y="1210175"/>
            <a:ext cx="2110155" cy="75965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92D050"/>
                </a:solidFill>
              </a:rPr>
              <a:t>Native </a:t>
            </a:r>
            <a:r>
              <a:rPr lang="en-US" b="1" dirty="0" err="1">
                <a:solidFill>
                  <a:srgbClr val="92D050"/>
                </a:solidFill>
              </a:rPr>
              <a:t>Oauth</a:t>
            </a:r>
            <a:r>
              <a:rPr lang="en-US" b="1" dirty="0">
                <a:solidFill>
                  <a:srgbClr val="92D050"/>
                </a:solidFill>
              </a:rPr>
              <a:t> 2.0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241E1-2375-6090-C78C-AC574DF9D513}"/>
              </a:ext>
            </a:extLst>
          </p:cNvPr>
          <p:cNvSpPr/>
          <p:nvPr/>
        </p:nvSpPr>
        <p:spPr>
          <a:xfrm rot="19532653">
            <a:off x="9054375" y="3541946"/>
            <a:ext cx="2110155" cy="75965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92D050"/>
                </a:solidFill>
              </a:rPr>
              <a:t>Temporal constraints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2F7FA2-BEBE-36E9-4803-97BE87068896}"/>
              </a:ext>
            </a:extLst>
          </p:cNvPr>
          <p:cNvSpPr/>
          <p:nvPr/>
        </p:nvSpPr>
        <p:spPr>
          <a:xfrm rot="20051469">
            <a:off x="391551" y="1698087"/>
            <a:ext cx="2110155" cy="75965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92D050"/>
                </a:solidFill>
              </a:rPr>
              <a:t>Async</a:t>
            </a:r>
            <a:r>
              <a:rPr lang="en-US" b="1" dirty="0"/>
              <a:t> </a:t>
            </a:r>
            <a:r>
              <a:rPr lang="en-US" b="1" dirty="0">
                <a:solidFill>
                  <a:srgbClr val="92D050"/>
                </a:solidFill>
              </a:rPr>
              <a:t>I/O</a:t>
            </a:r>
            <a:endParaRPr lang="en-IN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D12DA-A65B-890C-3887-E5618A9D2ACE}"/>
              </a:ext>
            </a:extLst>
          </p:cNvPr>
          <p:cNvSpPr/>
          <p:nvPr/>
        </p:nvSpPr>
        <p:spPr>
          <a:xfrm>
            <a:off x="4375344" y="4312373"/>
            <a:ext cx="2110155" cy="759656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92D050"/>
                </a:solidFill>
              </a:rPr>
              <a:t>Returning with OLD / NEW</a:t>
            </a:r>
            <a:endParaRPr lang="en-IN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02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02BB-1318-905E-F2DF-2A527336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97" y="4564876"/>
            <a:ext cx="9905998" cy="1478570"/>
          </a:xfrm>
        </p:spPr>
        <p:txBody>
          <a:bodyPr/>
          <a:lstStyle/>
          <a:p>
            <a:r>
              <a:rPr lang="en-US" sz="6000" cap="all" dirty="0">
                <a:solidFill>
                  <a:srgbClr val="92D05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Shemal Gandhi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2800" i="1" dirty="0">
                <a:solidFill>
                  <a:schemeClr val="tx1"/>
                </a:solidFill>
              </a:rPr>
              <a:t>DBA | Cloud Engineer | Tech Lead</a:t>
            </a:r>
            <a:endParaRPr lang="en-IN" sz="2800" i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40EE-6867-F82F-5B8B-F5F1209DA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023162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sz="6000" cap="all" dirty="0">
                <a:solidFill>
                  <a:srgbClr val="92D050"/>
                </a:solidFill>
                <a:latin typeface="Algerian" panose="04020705040A02060702" pitchFamily="82" charset="0"/>
                <a:ea typeface="+mj-ea"/>
                <a:cs typeface="Times New Roman" panose="02020603050405020304" pitchFamily="18" charset="0"/>
              </a:rPr>
              <a:t>Beyond Async I/O : Postgres 18’s Hidden Gems</a:t>
            </a:r>
            <a:endParaRPr lang="en-IN" sz="6000" cap="all" dirty="0">
              <a:solidFill>
                <a:srgbClr val="92D050"/>
              </a:solidFill>
              <a:latin typeface="Algerian" panose="04020705040A02060702" pitchFamily="82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75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257CEA-24F8-C3A3-9206-99C199A95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970" y="2454025"/>
            <a:ext cx="9906000" cy="3541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92D050"/>
                </a:solidFill>
                <a:latin typeface="+mj-lt"/>
              </a:rPr>
              <a:t>pg_buffercache_evict_all</a:t>
            </a:r>
            <a:r>
              <a:rPr lang="en-US" sz="5400" b="1" dirty="0">
                <a:solidFill>
                  <a:srgbClr val="92D050"/>
                </a:solidFill>
                <a:latin typeface="+mj-lt"/>
              </a:rPr>
              <a:t>();</a:t>
            </a:r>
            <a:endParaRPr lang="en-IN" sz="5400" b="1" dirty="0">
              <a:solidFill>
                <a:srgbClr val="92D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043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77AB4-4B2C-9AF0-63FF-594755174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721895"/>
            <a:ext cx="9905999" cy="5498431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Before Postgres </a:t>
            </a:r>
            <a:r>
              <a:rPr lang="en-US" sz="2800" dirty="0"/>
              <a:t>18, only way to empty shared_buffers was </a:t>
            </a:r>
            <a:r>
              <a:rPr lang="en-US" sz="2800" b="1" dirty="0">
                <a:solidFill>
                  <a:srgbClr val="92D050"/>
                </a:solidFill>
              </a:rPr>
              <a:t>RESTART</a:t>
            </a:r>
          </a:p>
          <a:p>
            <a:r>
              <a:rPr lang="en-IN" sz="2800" dirty="0"/>
              <a:t>Part of pg_buffercache extension</a:t>
            </a:r>
          </a:p>
          <a:p>
            <a:r>
              <a:rPr lang="en-IN" sz="3000" dirty="0"/>
              <a:t>Super user access required</a:t>
            </a:r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r>
              <a:rPr lang="en-IN" sz="3000" dirty="0"/>
              <a:t>Only unpinned buffers are evicted</a:t>
            </a:r>
          </a:p>
          <a:p>
            <a:r>
              <a:rPr lang="en-IN" sz="3000" dirty="0"/>
              <a:t>NOT for Production.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CA8593-C912-EE4F-70A4-3C63F53D3BBA}"/>
              </a:ext>
            </a:extLst>
          </p:cNvPr>
          <p:cNvSpPr/>
          <p:nvPr/>
        </p:nvSpPr>
        <p:spPr>
          <a:xfrm>
            <a:off x="1311442" y="2731168"/>
            <a:ext cx="9071811" cy="208146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/>
              <a:t>sql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postgres</a:t>
            </a:r>
            <a:r>
              <a:rPr lang="en-US" sz="2400" dirty="0">
                <a:latin typeface="Consolas" panose="020B0609020204030204" pitchFamily="49" charset="0"/>
              </a:rPr>
              <a:t>=CREATE EXTENSION </a:t>
            </a:r>
            <a:r>
              <a:rPr lang="en-US" sz="2400" dirty="0" err="1">
                <a:latin typeface="Consolas" panose="020B0609020204030204" pitchFamily="49" charset="0"/>
              </a:rPr>
              <a:t>pg_buffercache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 err="1">
                <a:latin typeface="Consolas" panose="020B0609020204030204" pitchFamily="49" charset="0"/>
              </a:rPr>
              <a:t>postgres</a:t>
            </a:r>
            <a:r>
              <a:rPr lang="en-US" sz="2400" dirty="0">
                <a:latin typeface="Consolas" panose="020B0609020204030204" pitchFamily="49" charset="0"/>
              </a:rPr>
              <a:t>=SELECT * from </a:t>
            </a:r>
            <a:r>
              <a:rPr lang="en-US" sz="2400" dirty="0" err="1">
                <a:latin typeface="Consolas" panose="020B0609020204030204" pitchFamily="49" charset="0"/>
              </a:rPr>
              <a:t>pg_buffercache_evict_all</a:t>
            </a:r>
            <a:r>
              <a:rPr lang="en-US" sz="24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 err="1">
                <a:latin typeface="Consolas" panose="020B0609020204030204" pitchFamily="49" charset="0"/>
              </a:rPr>
              <a:t>buffers_evicted</a:t>
            </a:r>
            <a:r>
              <a:rPr lang="en-US" sz="2400" dirty="0">
                <a:latin typeface="Consolas" panose="020B0609020204030204" pitchFamily="49" charset="0"/>
              </a:rPr>
              <a:t> | </a:t>
            </a:r>
            <a:r>
              <a:rPr lang="en-US" sz="2400" dirty="0" err="1">
                <a:latin typeface="Consolas" panose="020B0609020204030204" pitchFamily="49" charset="0"/>
              </a:rPr>
              <a:t>buffers_flushed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     14328 | 142</a:t>
            </a:r>
          </a:p>
          <a:p>
            <a:endParaRPr lang="en-I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16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53CB-FC0C-D0F8-53A7-615A95F9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37255"/>
            <a:ext cx="9905999" cy="77714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lgerian" panose="04020705040A02060702" pitchFamily="82" charset="0"/>
                <a:ea typeface="+mn-ea"/>
                <a:cs typeface="+mn-cs"/>
              </a:rPr>
              <a:t>How it helps</a:t>
            </a:r>
            <a:endParaRPr lang="en-IN" sz="3200" dirty="0">
              <a:solidFill>
                <a:schemeClr val="tx1"/>
              </a:solidFill>
              <a:latin typeface="Algerian" panose="04020705040A02060702" pitchFamily="8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03EBC-88BD-6CCA-34CE-142E80C61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14400"/>
            <a:ext cx="9905999" cy="4876801"/>
          </a:xfrm>
        </p:spPr>
        <p:txBody>
          <a:bodyPr/>
          <a:lstStyle/>
          <a:p>
            <a:r>
              <a:rPr lang="en-US" dirty="0"/>
              <a:t>Replicate “Cold Cache” for new queries / DB restart</a:t>
            </a:r>
          </a:p>
          <a:p>
            <a:endParaRPr lang="en-US" dirty="0"/>
          </a:p>
          <a:p>
            <a:r>
              <a:rPr lang="en-US" dirty="0"/>
              <a:t>Testing checkpoint behavior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Double Buffering : shared_buffers vs OS Cache analysis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697D289-1106-803B-6CE5-01B60B32DE1A}"/>
              </a:ext>
            </a:extLst>
          </p:cNvPr>
          <p:cNvSpPr txBox="1">
            <a:spLocks/>
          </p:cNvSpPr>
          <p:nvPr/>
        </p:nvSpPr>
        <p:spPr>
          <a:xfrm>
            <a:off x="1010653" y="3429000"/>
            <a:ext cx="9254289" cy="2735179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 err="1"/>
              <a:t>sql</a:t>
            </a:r>
            <a:endParaRPr lang="en-IN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postgres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IN" dirty="0">
                <a:latin typeface="Consolas" panose="020B0609020204030204" pitchFamily="49" charset="0"/>
              </a:rPr>
              <a:t>EXPLAIN (ANALYZE, BUFFERS) SELECT ...;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postgres</a:t>
            </a:r>
            <a:r>
              <a:rPr lang="en-US" dirty="0">
                <a:latin typeface="Consolas" panose="020B0609020204030204" pitchFamily="49" charset="0"/>
              </a:rPr>
              <a:t>=SELECT * FROM </a:t>
            </a:r>
            <a:r>
              <a:rPr lang="en-US" dirty="0" err="1">
                <a:latin typeface="Consolas" panose="020B0609020204030204" pitchFamily="49" charset="0"/>
              </a:rPr>
              <a:t>pg_buffercache_evict_all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postgres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IN" dirty="0">
                <a:latin typeface="Consolas" panose="020B0609020204030204" pitchFamily="49" charset="0"/>
              </a:rPr>
              <a:t>EXPLAIN (ANALYZE, BUFFERS) SELECT ...;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00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49CC-B113-7537-0CA3-09F138B13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9CE0C7-DFE8-995E-EF2F-F8448A99B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622468"/>
            <a:ext cx="9906000" cy="35417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2D050"/>
                </a:solidFill>
                <a:latin typeface="+mj-lt"/>
              </a:rPr>
              <a:t>NOT enforced</a:t>
            </a:r>
            <a:endParaRPr lang="en-IN" sz="5400" b="1" dirty="0">
              <a:solidFill>
                <a:srgbClr val="92D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7033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A424-47DC-0A58-1467-1A27D8943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873" y="798094"/>
            <a:ext cx="11526253" cy="5791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Pg18 brings Postgres in line with SQL standard 2023 :- Constraints have to be ENFORCED / NOT ENFORCED</a:t>
            </a:r>
          </a:p>
          <a:p>
            <a:endParaRPr lang="en-US" dirty="0"/>
          </a:p>
          <a:p>
            <a:r>
              <a:rPr lang="en-US" dirty="0"/>
              <a:t>Historically Postgres would act as a gate keeper for every constraint created automatically checking every write operation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Allows us to declare a </a:t>
            </a:r>
            <a:r>
              <a:rPr lang="en-US" b="1" dirty="0">
                <a:solidFill>
                  <a:srgbClr val="92D050"/>
                </a:solidFill>
              </a:rPr>
              <a:t>CHECK</a:t>
            </a:r>
            <a:r>
              <a:rPr lang="en-US" dirty="0"/>
              <a:t> or </a:t>
            </a:r>
            <a:r>
              <a:rPr lang="en-US" b="1" dirty="0">
                <a:solidFill>
                  <a:srgbClr val="92D050"/>
                </a:solidFill>
              </a:rPr>
              <a:t>FOREIGN KEY </a:t>
            </a:r>
            <a:r>
              <a:rPr lang="en-US" dirty="0"/>
              <a:t>constraint without enforcing it on every writes</a:t>
            </a:r>
          </a:p>
          <a:p>
            <a:endParaRPr lang="en-US" dirty="0"/>
          </a:p>
          <a:p>
            <a:r>
              <a:rPr lang="en-US" dirty="0"/>
              <a:t>Constraint exists in the DB metadata but DMLs are NOT rejected when they violate it</a:t>
            </a:r>
          </a:p>
          <a:p>
            <a:endParaRPr lang="en-US" dirty="0"/>
          </a:p>
          <a:p>
            <a:r>
              <a:rPr lang="en-US" dirty="0"/>
              <a:t>Important distinction :</a:t>
            </a:r>
          </a:p>
          <a:p>
            <a:pPr marL="0" indent="0">
              <a:buNone/>
            </a:pPr>
            <a:r>
              <a:rPr lang="en-US" b="1" dirty="0"/>
              <a:t>     </a:t>
            </a:r>
            <a:r>
              <a:rPr lang="en-US" b="1" dirty="0">
                <a:solidFill>
                  <a:srgbClr val="92D050"/>
                </a:solidFill>
              </a:rPr>
              <a:t>NOT VALID </a:t>
            </a:r>
            <a:r>
              <a:rPr lang="en-US" dirty="0"/>
              <a:t>= "trust new rows, audit old rows later"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temporal/migration tool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>
                <a:solidFill>
                  <a:srgbClr val="92D050"/>
                </a:solidFill>
              </a:rPr>
              <a:t>NOT ENFORCED </a:t>
            </a:r>
            <a:r>
              <a:rPr lang="en-US" dirty="0"/>
              <a:t>= "don't check anything, anytime"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documentation/off-switch tool</a:t>
            </a:r>
          </a:p>
          <a:p>
            <a:endParaRPr lang="en-US" dirty="0"/>
          </a:p>
          <a:p>
            <a:r>
              <a:rPr lang="en-US" dirty="0"/>
              <a:t>Re-enforcing constraint currently limited to </a:t>
            </a:r>
            <a:r>
              <a:rPr lang="en-US" b="1" dirty="0">
                <a:solidFill>
                  <a:srgbClr val="92D050"/>
                </a:solidFill>
              </a:rPr>
              <a:t>FOREGIN KEY </a:t>
            </a:r>
            <a:r>
              <a:rPr lang="en-US" dirty="0"/>
              <a:t>constraint only at the moment</a:t>
            </a:r>
          </a:p>
          <a:p>
            <a:pPr marL="0" indent="0">
              <a:buNone/>
            </a:pPr>
            <a:r>
              <a:rPr lang="en-US" dirty="0"/>
              <a:t>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4784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A8E4-B0CB-B029-FE55-99F6B673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3" y="270476"/>
            <a:ext cx="9256750" cy="678250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lgerian" panose="04020705040A02060702" pitchFamily="82" charset="0"/>
              </a:rPr>
              <a:t>How it helps</a:t>
            </a:r>
            <a:endParaRPr lang="en-IN" sz="3200" dirty="0">
              <a:solidFill>
                <a:schemeClr val="tx1"/>
              </a:solidFill>
              <a:latin typeface="Algerian" panose="04020705040A02060702" pitchFamily="8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523BC-6FEE-2FA2-E66E-C491A1B67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103" y="1572127"/>
            <a:ext cx="9256750" cy="3974429"/>
          </a:xfrm>
        </p:spPr>
        <p:txBody>
          <a:bodyPr>
            <a:normAutofit/>
          </a:bodyPr>
          <a:lstStyle/>
          <a:p>
            <a:r>
              <a:rPr lang="en-US" dirty="0"/>
              <a:t>Large legacy systems with dirty data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High ingest pipelines where write costs matter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Federated or externally controlled data stored in Postgres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Gradual migration from App enforced rules to DB enforced rules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82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39076D-7206-C2A8-C6DE-9FEFF2A9B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785"/>
          </a:xfrm>
        </p:spPr>
      </p:pic>
    </p:spTree>
    <p:extLst>
      <p:ext uri="{BB962C8B-B14F-4D97-AF65-F5344CB8AC3E}">
        <p14:creationId xmlns:p14="http://schemas.microsoft.com/office/powerpoint/2010/main" val="246670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86B2-16B0-E521-0DE6-D02AE6F58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973594-4CE5-A8CF-3BE6-58DE6A66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943" y="2622467"/>
            <a:ext cx="10108114" cy="3541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92D050"/>
                </a:solidFill>
                <a:latin typeface="+mj-lt"/>
              </a:rPr>
              <a:t>autovacuum_vacuum_max_threshold</a:t>
            </a:r>
            <a:endParaRPr lang="en-IN" sz="4000" b="1" dirty="0">
              <a:solidFill>
                <a:srgbClr val="92D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327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1EFF3-43CE-B680-4D0E-D9039EAB9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168" y="312822"/>
            <a:ext cx="9604685" cy="5935578"/>
          </a:xfrm>
        </p:spPr>
        <p:txBody>
          <a:bodyPr/>
          <a:lstStyle/>
          <a:p>
            <a:r>
              <a:rPr lang="en-US" dirty="0"/>
              <a:t>Hard ceiling on dead tuples being accumulated in a table</a:t>
            </a:r>
          </a:p>
          <a:p>
            <a:r>
              <a:rPr lang="en-US" dirty="0"/>
              <a:t>Runs Independently of the “</a:t>
            </a:r>
            <a:r>
              <a:rPr lang="en-US" b="1" dirty="0">
                <a:solidFill>
                  <a:srgbClr val="92D050"/>
                </a:solidFill>
              </a:rPr>
              <a:t>SCALE FACTOR</a:t>
            </a:r>
            <a:r>
              <a:rPr lang="en-US" dirty="0"/>
              <a:t>” </a:t>
            </a:r>
            <a:r>
              <a:rPr lang="en-US" dirty="0" err="1"/>
              <a:t>maths</a:t>
            </a:r>
            <a:r>
              <a:rPr lang="en-US" dirty="0"/>
              <a:t>.</a:t>
            </a:r>
          </a:p>
          <a:p>
            <a:r>
              <a:rPr lang="en-IN" dirty="0"/>
              <a:t>Classic </a:t>
            </a:r>
            <a:r>
              <a:rPr lang="en-IN" dirty="0" err="1"/>
              <a:t>autovacuum</a:t>
            </a:r>
            <a:r>
              <a:rPr lang="en-IN" dirty="0"/>
              <a:t> maths: </a:t>
            </a:r>
            <a:r>
              <a:rPr lang="en-IN" dirty="0" err="1"/>
              <a:t>autovacuum_vacuum_threshold</a:t>
            </a:r>
            <a:r>
              <a:rPr lang="en-IN" dirty="0"/>
              <a:t> + (</a:t>
            </a:r>
            <a:r>
              <a:rPr lang="en-IN" dirty="0" err="1"/>
              <a:t>autovacuum_vacuum_scale_factor</a:t>
            </a:r>
            <a:r>
              <a:rPr lang="en-IN" dirty="0"/>
              <a:t> X </a:t>
            </a:r>
            <a:r>
              <a:rPr lang="en-IN" dirty="0" err="1"/>
              <a:t>table_size</a:t>
            </a:r>
            <a:r>
              <a:rPr lang="en-IN" dirty="0"/>
              <a:t>)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IN" dirty="0"/>
              <a:t>	Eg: </a:t>
            </a:r>
            <a:r>
              <a:rPr lang="en-US" dirty="0"/>
              <a:t> With default settings (threshold 50, scale factor 0.2), a 10 million row table needs over 2 million dead tuples before </a:t>
            </a:r>
            <a:r>
              <a:rPr lang="en-US" dirty="0" err="1"/>
              <a:t>autovacuum</a:t>
            </a:r>
            <a:r>
              <a:rPr lang="en-US" dirty="0"/>
              <a:t> runs.</a:t>
            </a:r>
          </a:p>
          <a:p>
            <a:r>
              <a:rPr lang="en-US" dirty="0"/>
              <a:t>Default value at </a:t>
            </a:r>
            <a:r>
              <a:rPr lang="en-IN" b="1" dirty="0">
                <a:solidFill>
                  <a:srgbClr val="92D050"/>
                </a:solidFill>
              </a:rPr>
              <a:t>100,000,000</a:t>
            </a:r>
            <a:r>
              <a:rPr lang="en-IN" dirty="0"/>
              <a:t> tuples. Can be set at table level as well.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DE657E0-D4EF-D255-4D80-721C4E4F36AA}"/>
              </a:ext>
            </a:extLst>
          </p:cNvPr>
          <p:cNvSpPr txBox="1">
            <a:spLocks/>
          </p:cNvSpPr>
          <p:nvPr/>
        </p:nvSpPr>
        <p:spPr>
          <a:xfrm>
            <a:off x="620365" y="3280611"/>
            <a:ext cx="9254289" cy="2735179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 err="1"/>
              <a:t>sql</a:t>
            </a:r>
            <a:endParaRPr lang="en-IN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autovaccum_vacuum_max_threshold</a:t>
            </a:r>
            <a:r>
              <a:rPr lang="en-US" dirty="0">
                <a:latin typeface="Consolas" panose="020B0609020204030204" pitchFamily="49" charset="0"/>
              </a:rPr>
              <a:t>=100000000 –default in </a:t>
            </a:r>
            <a:r>
              <a:rPr lang="en-US" dirty="0" err="1">
                <a:latin typeface="Consolas" panose="020B0609020204030204" pitchFamily="49" charset="0"/>
              </a:rPr>
              <a:t>postgresql.conf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ALTER TABLE </a:t>
            </a:r>
            <a:r>
              <a:rPr lang="en-US" dirty="0" err="1">
                <a:latin typeface="Consolas" panose="020B0609020204030204" pitchFamily="49" charset="0"/>
              </a:rPr>
              <a:t>user_session</a:t>
            </a:r>
            <a:r>
              <a:rPr lang="en-US" dirty="0">
                <a:latin typeface="Consolas" panose="020B0609020204030204" pitchFamily="49" charset="0"/>
              </a:rPr>
              <a:t> SET (</a:t>
            </a:r>
            <a:r>
              <a:rPr lang="en-US" dirty="0" err="1">
                <a:latin typeface="Consolas" panose="020B0609020204030204" pitchFamily="49" charset="0"/>
              </a:rPr>
              <a:t>autovacuum_vacuum_max_threshold</a:t>
            </a:r>
            <a:r>
              <a:rPr lang="en-US" dirty="0">
                <a:latin typeface="Consolas" panose="020B0609020204030204" pitchFamily="49" charset="0"/>
              </a:rPr>
              <a:t> = 100000);</a:t>
            </a:r>
          </a:p>
        </p:txBody>
      </p:sp>
    </p:spTree>
    <p:extLst>
      <p:ext uri="{BB962C8B-B14F-4D97-AF65-F5344CB8AC3E}">
        <p14:creationId xmlns:p14="http://schemas.microsoft.com/office/powerpoint/2010/main" val="3775400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9160-B022-A355-0E9A-0A8463ACF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242" y="452718"/>
            <a:ext cx="9196592" cy="750440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lgerian" panose="04020705040A02060702" pitchFamily="82" charset="0"/>
              </a:rPr>
              <a:t>How it helps</a:t>
            </a:r>
            <a:endParaRPr lang="en-IN" sz="3200" dirty="0">
              <a:solidFill>
                <a:schemeClr val="tx1"/>
              </a:solidFill>
              <a:latin typeface="Algerian" panose="04020705040A02060702" pitchFamily="8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26172-4D75-0DAD-957A-6AD6646D9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961149"/>
            <a:ext cx="8946541" cy="3320716"/>
          </a:xfrm>
        </p:spPr>
        <p:txBody>
          <a:bodyPr/>
          <a:lstStyle/>
          <a:p>
            <a:r>
              <a:rPr lang="en-US" dirty="0"/>
              <a:t>Caping bloat on very large high churn tables</a:t>
            </a:r>
          </a:p>
          <a:p>
            <a:endParaRPr lang="en-US" dirty="0"/>
          </a:p>
          <a:p>
            <a:r>
              <a:rPr lang="en-US" dirty="0"/>
              <a:t>Targeting specific hot tables </a:t>
            </a:r>
          </a:p>
          <a:p>
            <a:endParaRPr lang="en-US" dirty="0"/>
          </a:p>
          <a:p>
            <a:r>
              <a:rPr lang="en-US" dirty="0"/>
              <a:t>Cloud Managed Postgres deployments tuning</a:t>
            </a:r>
          </a:p>
          <a:p>
            <a:endParaRPr lang="en-US" dirty="0"/>
          </a:p>
          <a:p>
            <a:r>
              <a:rPr lang="en-US" dirty="0"/>
              <a:t>Simplified vacuum monitoring ; looking at dead tuples you’ll know when vacuum will happen on a table!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532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49DA-56FF-8DC4-A688-A6A320228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854B3E-092A-DEF8-11F1-DC72128A4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943" y="2622467"/>
            <a:ext cx="10108114" cy="35417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5400" b="1" dirty="0">
                <a:solidFill>
                  <a:srgbClr val="92D050"/>
                </a:solidFill>
                <a:latin typeface="+mj-lt"/>
              </a:rPr>
              <a:t>extension_control_path</a:t>
            </a:r>
          </a:p>
        </p:txBody>
      </p:sp>
    </p:spTree>
    <p:extLst>
      <p:ext uri="{BB962C8B-B14F-4D97-AF65-F5344CB8AC3E}">
        <p14:creationId xmlns:p14="http://schemas.microsoft.com/office/powerpoint/2010/main" val="421977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94431-2249-60C4-018A-D0B79727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42" y="336884"/>
            <a:ext cx="9652811" cy="5911515"/>
          </a:xfrm>
        </p:spPr>
        <p:txBody>
          <a:bodyPr/>
          <a:lstStyle/>
          <a:p>
            <a:r>
              <a:rPr lang="en-US" dirty="0"/>
              <a:t>Files .control and .</a:t>
            </a:r>
            <a:r>
              <a:rPr lang="en-US" dirty="0" err="1"/>
              <a:t>sql</a:t>
            </a:r>
            <a:r>
              <a:rPr lang="en-US" dirty="0"/>
              <a:t> tells Postgres what an extension is, its version and how to build its functions / tables.</a:t>
            </a:r>
          </a:p>
          <a:p>
            <a:r>
              <a:rPr lang="en-US" dirty="0"/>
              <a:t>Usually stored in installation’s SHAREDIR/extension location</a:t>
            </a:r>
          </a:p>
          <a:p>
            <a:r>
              <a:rPr lang="en-US" dirty="0"/>
              <a:t>For immutable env like </a:t>
            </a:r>
            <a:r>
              <a:rPr lang="en-US" b="1" dirty="0" err="1">
                <a:solidFill>
                  <a:srgbClr val="92D050"/>
                </a:solidFill>
              </a:rPr>
              <a:t>CloudNativePg</a:t>
            </a:r>
            <a:r>
              <a:rPr lang="en-US" dirty="0"/>
              <a:t>, this path is </a:t>
            </a:r>
            <a:r>
              <a:rPr lang="en-US" b="1" dirty="0">
                <a:solidFill>
                  <a:srgbClr val="92D050"/>
                </a:solidFill>
              </a:rPr>
              <a:t>READ ONLY.</a:t>
            </a:r>
          </a:p>
          <a:p>
            <a:r>
              <a:rPr lang="en-US" dirty="0"/>
              <a:t>Meaning you have to rebuild the base image in Containers / Kubernetes every time we add a new extension</a:t>
            </a:r>
            <a:endParaRPr lang="en-IN" dirty="0"/>
          </a:p>
          <a:p>
            <a:r>
              <a:rPr lang="en-IN" b="1" dirty="0" err="1">
                <a:solidFill>
                  <a:srgbClr val="92D050"/>
                </a:solidFill>
              </a:rPr>
              <a:t>extention_control_path</a:t>
            </a:r>
            <a:r>
              <a:rPr lang="en-IN" b="1" dirty="0">
                <a:solidFill>
                  <a:srgbClr val="92D050"/>
                </a:solidFill>
              </a:rPr>
              <a:t> </a:t>
            </a:r>
            <a:r>
              <a:rPr lang="en-IN" dirty="0"/>
              <a:t>allows custom path where Postgres can look for .control &amp; .</a:t>
            </a:r>
            <a:r>
              <a:rPr lang="en-IN" dirty="0" err="1"/>
              <a:t>sql</a:t>
            </a:r>
            <a:r>
              <a:rPr lang="en-IN" dirty="0"/>
              <a:t> files</a:t>
            </a:r>
          </a:p>
          <a:p>
            <a:r>
              <a:rPr lang="en-IN" dirty="0" err="1"/>
              <a:t>CloudNativePg</a:t>
            </a:r>
            <a:r>
              <a:rPr lang="en-IN" dirty="0"/>
              <a:t> can dynamically inject extensions at container startup </a:t>
            </a:r>
          </a:p>
          <a:p>
            <a:r>
              <a:rPr lang="en-IN" dirty="0"/>
              <a:t>Works in tandem with another GUC parameter </a:t>
            </a:r>
            <a:r>
              <a:rPr lang="en-IN" b="1" dirty="0"/>
              <a:t>: </a:t>
            </a:r>
            <a:r>
              <a:rPr lang="en-IN" b="1" dirty="0" err="1">
                <a:solidFill>
                  <a:srgbClr val="92D050"/>
                </a:solidFill>
              </a:rPr>
              <a:t>dynamic_library_path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B35FD-E6F2-7954-0820-C96A89709F4C}"/>
              </a:ext>
            </a:extLst>
          </p:cNvPr>
          <p:cNvSpPr txBox="1">
            <a:spLocks/>
          </p:cNvSpPr>
          <p:nvPr/>
        </p:nvSpPr>
        <p:spPr>
          <a:xfrm>
            <a:off x="644430" y="4355432"/>
            <a:ext cx="8535666" cy="229803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 err="1"/>
              <a:t>sql</a:t>
            </a:r>
            <a:endParaRPr lang="en-IN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extention_control_path</a:t>
            </a:r>
            <a:r>
              <a:rPr lang="en-US" dirty="0">
                <a:latin typeface="Consolas" panose="020B0609020204030204" pitchFamily="49" charset="0"/>
              </a:rPr>
              <a:t> = ‘/extensions/</a:t>
            </a:r>
            <a:r>
              <a:rPr lang="en-US" dirty="0" err="1">
                <a:latin typeface="Consolas" panose="020B0609020204030204" pitchFamily="49" charset="0"/>
              </a:rPr>
              <a:t>mycustomplugins</a:t>
            </a:r>
            <a:r>
              <a:rPr lang="en-US" dirty="0">
                <a:latin typeface="Consolas" panose="020B0609020204030204" pitchFamily="49" charset="0"/>
              </a:rPr>
              <a:t>/share:$system’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dynamic_library_path</a:t>
            </a:r>
            <a:r>
              <a:rPr lang="en-US" dirty="0">
                <a:latin typeface="Consolas" panose="020B0609020204030204" pitchFamily="49" charset="0"/>
              </a:rPr>
              <a:t> = ‘/extensions/</a:t>
            </a:r>
            <a:r>
              <a:rPr lang="en-US" dirty="0" err="1">
                <a:latin typeface="Consolas" panose="020B0609020204030204" pitchFamily="49" charset="0"/>
              </a:rPr>
              <a:t>mycustomplugins</a:t>
            </a:r>
            <a:r>
              <a:rPr lang="en-US" dirty="0">
                <a:latin typeface="Consolas" panose="020B0609020204030204" pitchFamily="49" charset="0"/>
              </a:rPr>
              <a:t>/lib:$</a:t>
            </a:r>
            <a:r>
              <a:rPr lang="en-US" dirty="0" err="1">
                <a:latin typeface="Consolas" panose="020B0609020204030204" pitchFamily="49" charset="0"/>
              </a:rPr>
              <a:t>libdir</a:t>
            </a:r>
            <a:r>
              <a:rPr lang="en-US" dirty="0">
                <a:latin typeface="Consolas" panose="020B0609020204030204" pitchFamily="49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40375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2BEDD-C23D-B384-A278-AC5DEA53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32" y="452718"/>
            <a:ext cx="9353002" cy="954977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lgerian" panose="04020705040A02060702" pitchFamily="82" charset="0"/>
              </a:rPr>
              <a:t>How it helps</a:t>
            </a:r>
            <a:endParaRPr lang="en-IN" sz="3200" dirty="0">
              <a:solidFill>
                <a:schemeClr val="tx1"/>
              </a:solidFill>
              <a:latin typeface="Algerian" panose="04020705040A02060702" pitchFamily="8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68F2F-F039-16D1-6C55-C28770A0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852" y="1828801"/>
            <a:ext cx="9628748" cy="3657600"/>
          </a:xfrm>
        </p:spPr>
        <p:txBody>
          <a:bodyPr/>
          <a:lstStyle/>
          <a:p>
            <a:r>
              <a:rPr lang="en-US" dirty="0"/>
              <a:t>Kubernetes / </a:t>
            </a:r>
            <a:r>
              <a:rPr lang="en-US" dirty="0" err="1"/>
              <a:t>CloudNativePg</a:t>
            </a:r>
            <a:r>
              <a:rPr lang="en-US" dirty="0"/>
              <a:t> : Dynamic extension installation without base image rebuilds</a:t>
            </a:r>
          </a:p>
          <a:p>
            <a:endParaRPr lang="en-US" dirty="0"/>
          </a:p>
          <a:p>
            <a:r>
              <a:rPr lang="en-US" dirty="0"/>
              <a:t>Security : Keep the core gold image separate</a:t>
            </a:r>
          </a:p>
          <a:p>
            <a:endParaRPr lang="en-US" dirty="0"/>
          </a:p>
          <a:p>
            <a:r>
              <a:rPr lang="en-US" dirty="0"/>
              <a:t>Multi-tenant model : Per project extension isolation</a:t>
            </a:r>
          </a:p>
          <a:p>
            <a:endParaRPr lang="en-US" dirty="0"/>
          </a:p>
          <a:p>
            <a:r>
              <a:rPr lang="en-US" dirty="0"/>
              <a:t>macOS : Restricted environment installations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34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2BF2E-DF64-D464-8B78-3402DAC4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15BA-A9D4-B3A8-7290-2283FA9EF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182" y="3348037"/>
            <a:ext cx="10499188" cy="350996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To log or not to log,</a:t>
            </a:r>
            <a:br>
              <a:rPr lang="en-US" sz="6000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US" sz="6000" dirty="0">
                <a:solidFill>
                  <a:schemeClr val="tx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What to Log , What NOT to Log is the question.</a:t>
            </a:r>
            <a:br>
              <a:rPr lang="en-US" sz="6000" dirty="0">
                <a:solidFill>
                  <a:srgbClr val="C00000"/>
                </a:solidFill>
                <a:latin typeface="Algerian" panose="04020705040A02060702" pitchFamily="82" charset="0"/>
              </a:rPr>
            </a:br>
            <a:endParaRPr lang="en-IN" sz="6000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2797ED-D581-3341-47D8-6EFFE0B1366B}"/>
              </a:ext>
            </a:extLst>
          </p:cNvPr>
          <p:cNvSpPr txBox="1">
            <a:spLocks/>
          </p:cNvSpPr>
          <p:nvPr/>
        </p:nvSpPr>
        <p:spPr>
          <a:xfrm>
            <a:off x="846406" y="-161926"/>
            <a:ext cx="10499188" cy="35099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Algerian" panose="04020705040A02060702" pitchFamily="82" charset="0"/>
                <a:cs typeface="Times New Roman" panose="02020603050405020304" pitchFamily="18" charset="0"/>
              </a:rPr>
              <a:t>William </a:t>
            </a:r>
            <a:r>
              <a:rPr lang="en-US" sz="6000" dirty="0" err="1">
                <a:solidFill>
                  <a:srgbClr val="92D05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Postgres</a:t>
            </a:r>
            <a:r>
              <a:rPr lang="en-US" sz="6000" dirty="0" err="1">
                <a:latin typeface="Algerian" panose="04020705040A02060702" pitchFamily="82" charset="0"/>
                <a:cs typeface="Times New Roman" panose="02020603050405020304" pitchFamily="18" charset="0"/>
              </a:rPr>
              <a:t>phere</a:t>
            </a:r>
            <a:r>
              <a:rPr lang="en-US" sz="6000" dirty="0">
                <a:latin typeface="Algerian" panose="04020705040A02060702" pitchFamily="82" charset="0"/>
                <a:cs typeface="Times New Roman" panose="02020603050405020304" pitchFamily="18" charset="0"/>
              </a:rPr>
              <a:t> said:</a:t>
            </a:r>
            <a:br>
              <a:rPr lang="en-US" sz="6000" dirty="0">
                <a:latin typeface="Algerian" panose="04020705040A02060702" pitchFamily="82" charset="0"/>
              </a:rPr>
            </a:b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214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3915-7F7D-158A-66AF-9CE940A0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8B5734-2C98-7CAD-B8F7-DE33834AE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943" y="2622467"/>
            <a:ext cx="10108114" cy="35417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400" b="1" dirty="0" err="1">
                <a:solidFill>
                  <a:srgbClr val="92D050"/>
                </a:solidFill>
                <a:latin typeface="+mj-lt"/>
              </a:rPr>
              <a:t>log_connections</a:t>
            </a:r>
            <a:endParaRPr lang="en-IN" sz="5400" b="1" dirty="0">
              <a:solidFill>
                <a:srgbClr val="92D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954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2831-A82F-C7A7-C2D9-3654E786B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454" y="553454"/>
            <a:ext cx="9496400" cy="5694946"/>
          </a:xfrm>
        </p:spPr>
        <p:txBody>
          <a:bodyPr/>
          <a:lstStyle/>
          <a:p>
            <a:r>
              <a:rPr lang="en-US" dirty="0"/>
              <a:t>Prior to Postgres18, this meant large amount of noise on a busy system </a:t>
            </a:r>
          </a:p>
          <a:p>
            <a:r>
              <a:rPr lang="en-US" dirty="0"/>
              <a:t>Upgraded from a simple </a:t>
            </a:r>
            <a:r>
              <a:rPr lang="en-US" b="1" dirty="0">
                <a:solidFill>
                  <a:srgbClr val="92D050"/>
                </a:solidFill>
              </a:rPr>
              <a:t>Boolean (ON / OFF)</a:t>
            </a:r>
            <a:r>
              <a:rPr lang="en-US" dirty="0"/>
              <a:t> to a </a:t>
            </a:r>
            <a:r>
              <a:rPr lang="en-US" b="1" dirty="0">
                <a:solidFill>
                  <a:srgbClr val="92D050"/>
                </a:solidFill>
              </a:rPr>
              <a:t>List</a:t>
            </a:r>
            <a:r>
              <a:rPr lang="en-US" dirty="0"/>
              <a:t>.</a:t>
            </a:r>
          </a:p>
          <a:p>
            <a:r>
              <a:rPr lang="en-US" dirty="0"/>
              <a:t>Now we can choose which part of connection needs to be logged.</a:t>
            </a:r>
          </a:p>
          <a:p>
            <a:r>
              <a:rPr lang="en-US" dirty="0"/>
              <a:t>Captures these stages of the connection which can be logged 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92D050"/>
                </a:solidFill>
              </a:rPr>
              <a:t>Receipt</a:t>
            </a:r>
            <a:r>
              <a:rPr lang="en-US" dirty="0"/>
              <a:t> (Connection received)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92D050"/>
                </a:solidFill>
              </a:rPr>
              <a:t>Authentication</a:t>
            </a:r>
            <a:r>
              <a:rPr lang="en-US" dirty="0"/>
              <a:t> (Client authorized)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92D050"/>
                </a:solidFill>
              </a:rPr>
              <a:t>Authorization</a:t>
            </a:r>
            <a:r>
              <a:rPr lang="en-US" dirty="0"/>
              <a:t> (Connection authorized)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424E2-61E4-3DFB-E381-9BEE654897BB}"/>
              </a:ext>
            </a:extLst>
          </p:cNvPr>
          <p:cNvSpPr txBox="1">
            <a:spLocks/>
          </p:cNvSpPr>
          <p:nvPr/>
        </p:nvSpPr>
        <p:spPr>
          <a:xfrm>
            <a:off x="836935" y="3613483"/>
            <a:ext cx="8848485" cy="290763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 err="1"/>
              <a:t>sql</a:t>
            </a:r>
            <a:endParaRPr lang="en-IN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log_connections</a:t>
            </a:r>
            <a:r>
              <a:rPr lang="en-US" dirty="0">
                <a:latin typeface="Consolas" panose="020B0609020204030204" pitchFamily="49" charset="0"/>
              </a:rPr>
              <a:t> = 'receipt, authentication, authorization’ | Logs all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log_connections</a:t>
            </a:r>
            <a:r>
              <a:rPr lang="en-US" dirty="0">
                <a:latin typeface="Consolas" panose="020B0609020204030204" pitchFamily="49" charset="0"/>
              </a:rPr>
              <a:t> = 'authorization’ | Audit successful logins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log_connections</a:t>
            </a:r>
            <a:r>
              <a:rPr lang="en-US" dirty="0">
                <a:latin typeface="Consolas" panose="020B0609020204030204" pitchFamily="49" charset="0"/>
              </a:rPr>
              <a:t> = ‘’ | Turn OFF ALL logging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44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9BE9-9B37-1979-7BDB-0CD11892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7" y="452718"/>
            <a:ext cx="9160497" cy="774503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Algerian" panose="04020705040A02060702" pitchFamily="82" charset="0"/>
              </a:rPr>
              <a:t>How it helps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DF151-EB5C-2E3A-556B-9711911A1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356" y="1752129"/>
            <a:ext cx="8946541" cy="4195481"/>
          </a:xfrm>
        </p:spPr>
        <p:txBody>
          <a:bodyPr/>
          <a:lstStyle/>
          <a:p>
            <a:r>
              <a:rPr lang="en-US" dirty="0"/>
              <a:t>Reducing LOG noise on high churn systems</a:t>
            </a:r>
          </a:p>
          <a:p>
            <a:endParaRPr lang="en-US" dirty="0"/>
          </a:p>
          <a:p>
            <a:r>
              <a:rPr lang="en-US" dirty="0"/>
              <a:t>Security auditing : Targeting “authorization”  stage only</a:t>
            </a:r>
          </a:p>
          <a:p>
            <a:endParaRPr lang="en-US" dirty="0"/>
          </a:p>
          <a:p>
            <a:r>
              <a:rPr lang="en-US" dirty="0"/>
              <a:t>Diagnostics of slow connections : Network level (receipt delay ) vs auth related (slow LDAP / Kerberos) vs authorization (privilege / role related)</a:t>
            </a:r>
          </a:p>
          <a:p>
            <a:endParaRPr lang="en-US" dirty="0"/>
          </a:p>
          <a:p>
            <a:r>
              <a:rPr lang="en-US" dirty="0"/>
              <a:t>Pair this with </a:t>
            </a:r>
            <a:r>
              <a:rPr lang="en-US" dirty="0" err="1"/>
              <a:t>log_disconnections</a:t>
            </a:r>
            <a:r>
              <a:rPr lang="en-US" dirty="0"/>
              <a:t> to get more info about the entire duration of the session.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389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BF69-A9EF-DA0F-09A7-98D0F884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782" y="486170"/>
            <a:ext cx="9905998" cy="1478570"/>
          </a:xfrm>
        </p:spPr>
        <p:txBody>
          <a:bodyPr/>
          <a:lstStyle/>
          <a:p>
            <a:r>
              <a:rPr lang="en-IN" sz="6000" dirty="0">
                <a:solidFill>
                  <a:srgbClr val="92D05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Something extra: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ECE1B-D5D7-65A0-62F1-2A62A2009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556667" cy="4195481"/>
          </a:xfrm>
        </p:spPr>
        <p:txBody>
          <a:bodyPr>
            <a:normAutofit/>
          </a:bodyPr>
          <a:lstStyle/>
          <a:p>
            <a:r>
              <a:rPr lang="en-IN" sz="5400" dirty="0" err="1">
                <a:latin typeface="+mj-lt"/>
              </a:rPr>
              <a:t>pg_upgrade</a:t>
            </a:r>
            <a:r>
              <a:rPr lang="en-IN" sz="5400" dirty="0">
                <a:latin typeface="+mj-lt"/>
              </a:rPr>
              <a:t> </a:t>
            </a:r>
            <a:r>
              <a:rPr lang="en-IN" sz="4800" dirty="0">
                <a:solidFill>
                  <a:srgbClr val="92D05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swap</a:t>
            </a:r>
            <a:r>
              <a:rPr lang="en-IN" sz="5400" dirty="0">
                <a:latin typeface="+mj-lt"/>
              </a:rPr>
              <a:t> mode</a:t>
            </a:r>
          </a:p>
          <a:p>
            <a:r>
              <a:rPr lang="en-IN" sz="5400" dirty="0" err="1">
                <a:latin typeface="+mj-lt"/>
              </a:rPr>
              <a:t>pg_overexplain</a:t>
            </a:r>
            <a:endParaRPr lang="en-IN" sz="5400" dirty="0">
              <a:latin typeface="+mj-lt"/>
            </a:endParaRPr>
          </a:p>
          <a:p>
            <a:r>
              <a:rPr lang="en-IN" sz="5400" dirty="0" err="1">
                <a:latin typeface="+mj-lt"/>
              </a:rPr>
              <a:t>pg_stat_io</a:t>
            </a:r>
            <a:endParaRPr lang="en-IN" sz="5400" dirty="0">
              <a:latin typeface="+mj-lt"/>
            </a:endParaRPr>
          </a:p>
          <a:p>
            <a:r>
              <a:rPr lang="en-IN" sz="5400" dirty="0" err="1">
                <a:latin typeface="+mj-lt"/>
              </a:rPr>
              <a:t>log_lock_failures</a:t>
            </a:r>
            <a:endParaRPr lang="en-IN" sz="5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5775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C701-0AA7-8E6B-1BA0-9E928845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6000" dirty="0">
                <a:solidFill>
                  <a:srgbClr val="92D05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Shemal Gandhi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BDDC7E-8619-BE8A-1A5F-3BA83A588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872" y="1615825"/>
            <a:ext cx="2971006" cy="2971006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1EE8ECF-1D7D-1604-C5BD-47F346EA0C64}"/>
              </a:ext>
            </a:extLst>
          </p:cNvPr>
          <p:cNvSpPr txBox="1">
            <a:spLocks/>
          </p:cNvSpPr>
          <p:nvPr/>
        </p:nvSpPr>
        <p:spPr>
          <a:xfrm>
            <a:off x="1075237" y="5049673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6000">
                <a:solidFill>
                  <a:srgbClr val="92D05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Thank You!!!</a:t>
            </a:r>
            <a:endParaRPr lang="en-IN" sz="6000" dirty="0">
              <a:solidFill>
                <a:srgbClr val="92D05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56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550</TotalTime>
  <Words>933</Words>
  <Application>Microsoft Office PowerPoint</Application>
  <PresentationFormat>Widescreen</PresentationFormat>
  <Paragraphs>133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Algerian</vt:lpstr>
      <vt:lpstr>Century Gothic</vt:lpstr>
      <vt:lpstr>Consolas</vt:lpstr>
      <vt:lpstr>Wingdings</vt:lpstr>
      <vt:lpstr>Wingdings 3</vt:lpstr>
      <vt:lpstr>Ion</vt:lpstr>
      <vt:lpstr> SELECT COUNT(*) FROM (SELECT NAME FROM PG18.NEWFEATURES  UNION SELECT NAME FROM PG18.NEWENHANCEMENTS) AS COMBINED COUNT; </vt:lpstr>
      <vt:lpstr>PowerPoint Presentation</vt:lpstr>
      <vt:lpstr>Shemal Gandhi DBA | Cloud Engineer | Tech Lead</vt:lpstr>
      <vt:lpstr>PowerPoint Presentation</vt:lpstr>
      <vt:lpstr>PowerPoint Presentation</vt:lpstr>
      <vt:lpstr>How it helps</vt:lpstr>
      <vt:lpstr>PowerPoint Presentation</vt:lpstr>
      <vt:lpstr>PowerPoint Presentation</vt:lpstr>
      <vt:lpstr>How it helps</vt:lpstr>
      <vt:lpstr>PowerPoint Presentation</vt:lpstr>
      <vt:lpstr>PowerPoint Presentation</vt:lpstr>
      <vt:lpstr>PowerPoint Presentation</vt:lpstr>
      <vt:lpstr>How it helps</vt:lpstr>
      <vt:lpstr>PowerPoint Presentation</vt:lpstr>
      <vt:lpstr>PowerPoint Presentation</vt:lpstr>
      <vt:lpstr>How it helps</vt:lpstr>
      <vt:lpstr>To log or not to log, What to Log , What NOT to Log is the question. </vt:lpstr>
      <vt:lpstr>PowerPoint Presentation</vt:lpstr>
      <vt:lpstr>PowerPoint Presentation</vt:lpstr>
      <vt:lpstr>How it helps</vt:lpstr>
      <vt:lpstr>Something extra:</vt:lpstr>
      <vt:lpstr>Shemal Gandhi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Mendon</dc:creator>
  <cp:lastModifiedBy>Kiran Mendon</cp:lastModifiedBy>
  <cp:revision>42</cp:revision>
  <dcterms:created xsi:type="dcterms:W3CDTF">2026-06-17T10:17:39Z</dcterms:created>
  <dcterms:modified xsi:type="dcterms:W3CDTF">2026-06-18T14:04:36Z</dcterms:modified>
</cp:coreProperties>
</file>